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FE045-CE02-8AED-7864-D8E198B79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E88B05-76B8-A640-084F-2EA4F522A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F298A-CF9F-79C1-57AE-04664A37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C4A724-8BDA-92C7-0D0F-32287B57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A6A6C-8020-A135-1532-C2F6C29E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09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260E7-62D0-DCF4-30A9-AB023646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9D4DE-D93E-9863-0C90-4E5C2803F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234A8B-63D1-C858-0680-DB62246C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0FF05E-3B44-0CFE-5235-9B8A0534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F9851B-106E-4E1C-69C7-9E8DF9B3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7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53B48-C369-32A7-E70E-8921BE78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C49445-BC71-3594-1ABC-26CE8BD32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E033E-3491-567C-2A18-2563F7C1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094E0B-D712-F9E0-3E4C-3BE35D92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2390B5-7040-1D0F-E86E-CE60F519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79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19DB8-8DB9-DF37-8E32-2F41F469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AD89E4-1594-DE39-A6CE-F026BCAEE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BA15E3-5825-E6CA-7858-A239365EA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D3A13B-5006-7B54-D650-51093782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0C7DA7-AE4A-F02A-B516-639F95DD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977447-3C89-E366-E1C6-D8693FC0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86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F0A46-7319-0BD9-F062-6E27FC38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A1F8E8-A456-B2C2-733B-56BC6756B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2852B5-BC8C-2B03-B750-55C801C7A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381E20-1DB5-40CC-6EBE-BED536758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5E02F4-9551-9C1D-DF3E-A2F7CD258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78AB99-BF31-3C64-1ECC-E058BADF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51D57E-AA0E-0096-B79C-1E09A8E5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D8AF80-9F0D-1D35-3031-4732D773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1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2CE54-5CA4-A497-4898-B988AF1C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A4117B-9335-A9D3-3999-1819E960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B532DE-EFD3-A114-04A3-EA8D2615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5B96C4-9A5F-D18D-62DE-F548CEBC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71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38A584-20E9-F123-6C9D-0A00B273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16950C-285C-8556-C303-58A52B41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ED56F5-5005-C029-91E6-89F1B55E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81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86B1C-8B1E-E116-ECB2-CA051ABB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459DA-8CC0-502E-62EC-CD33B5038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4DC3F8-FF0D-8853-72CB-93C6A7EFD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02F7B9-71E9-807D-17FD-69B3543D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A98031-858B-0C5C-CF42-E649C329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D48DE-D3A8-3C80-00B7-698F3DC6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3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19FF8-8C9B-92C5-ADEC-F03DAD8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12B892-904F-CE1E-94D7-7AF445166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C9CA42-1074-1EB1-F002-208618008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0E72C2-4C50-9BCD-3F56-2573857F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AFC1E9-4D91-59EA-4DCD-9CBED4B7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CA74E-EC78-785D-0EBE-0C8E0F0C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0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C9767-5040-BED8-F5B6-FE9BFAC7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679EF3-C570-FF4A-1745-AFC9CB5D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5573AE-5CD0-1025-81DF-B31F0882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8BA365-3F96-3F28-1BF5-3587FA01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A59B5-52F5-E38E-72F4-281010E1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456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C462C9-E3A2-566F-1701-2B4EFB804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DE8587-6A00-6B93-C37F-17A9C6ABE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2EF47E-A75C-A9D5-B969-2BDCC6C2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11A3A-0368-5DDA-D8AB-409EB3CD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6AA0A-E2EE-53F5-5A54-D98322D0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26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B4AD6-C0EA-D97B-CF8C-F0789310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27108F-1195-6C04-1C3D-D1E2D2522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CC1DC6-67DA-F667-6773-43045AA7A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33471-DADC-9D4E-B450-6FE13BF76C6B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57D771-BA8F-0A88-9437-8145D9218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84C609-D19C-B35A-3AC9-435FF7C5A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C2A01-23B9-794D-A6E5-5F77BACB8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02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755E1-3792-19CD-F42A-7BBCB3E21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Шифрование</a:t>
            </a:r>
            <a:r>
              <a:rPr lang="en-US" dirty="0"/>
              <a:t>. </a:t>
            </a:r>
            <a:r>
              <a:rPr lang="ru-RU" dirty="0"/>
              <a:t>Открытый и закрытый ключи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060047-95BA-A510-3D87-0EAE74A0B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54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CEA6B-2EE5-0EAD-375C-CB523D73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0C891C-F4DF-6629-A875-141288F91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system-ui"/>
              </a:rPr>
              <a:t>создадим </a:t>
            </a:r>
            <a:r>
              <a:rPr lang="ru-RU" b="1" i="0" dirty="0">
                <a:effectLst/>
                <a:latin typeface="system-ui"/>
              </a:rPr>
              <a:t>открытый и закрытый ключи</a:t>
            </a:r>
            <a:r>
              <a:rPr lang="ru-RU" b="0" i="0" dirty="0">
                <a:effectLst/>
                <a:latin typeface="system-ui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system-ui"/>
              </a:rPr>
              <a:t>зашифруем</a:t>
            </a:r>
            <a:r>
              <a:rPr lang="ru-RU" b="0" i="0" dirty="0">
                <a:effectLst/>
                <a:latin typeface="system-ui"/>
              </a:rPr>
              <a:t> сообщение открытым ключом,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system-ui"/>
              </a:rPr>
              <a:t>расшифруем</a:t>
            </a:r>
            <a:r>
              <a:rPr lang="ru-RU" b="0" i="0" dirty="0">
                <a:effectLst/>
                <a:latin typeface="system-ui"/>
              </a:rPr>
              <a:t> полученное сообщение закрытым ключом.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0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CDCFF33-B7BE-DB3B-4A9A-8CD10DCB6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475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ru-RU" i="0" dirty="0">
                <a:effectLst/>
                <a:latin typeface="system-ui"/>
              </a:rPr>
              <a:t>Задание</a:t>
            </a:r>
            <a:r>
              <a:rPr lang="en-US" i="0" dirty="0">
                <a:effectLst/>
                <a:latin typeface="system-ui"/>
              </a:rPr>
              <a:t> </a:t>
            </a:r>
            <a:r>
              <a:rPr lang="ru-RU" i="0" dirty="0">
                <a:effectLst/>
                <a:latin typeface="system-ui"/>
              </a:rPr>
              <a:t>для сайта</a:t>
            </a:r>
            <a:r>
              <a:rPr lang="en-US" i="0" dirty="0">
                <a:effectLst/>
                <a:latin typeface="system-ui"/>
              </a:rPr>
              <a:t>.</a:t>
            </a:r>
          </a:p>
          <a:p>
            <a:pPr marL="0" indent="0" algn="l">
              <a:buNone/>
            </a:pPr>
            <a:r>
              <a:rPr lang="ru-RU" i="0" dirty="0">
                <a:effectLst/>
                <a:latin typeface="system-ui"/>
              </a:rPr>
              <a:t>Выбираем два простых числа </a:t>
            </a:r>
            <a:r>
              <a:rPr lang="en" i="0" dirty="0">
                <a:effectLst/>
                <a:latin typeface="system-ui"/>
              </a:rPr>
              <a:t>p </a:t>
            </a:r>
            <a:r>
              <a:rPr lang="ru-RU" i="0" dirty="0">
                <a:effectLst/>
                <a:latin typeface="system-ui"/>
              </a:rPr>
              <a:t>и </a:t>
            </a:r>
            <a:r>
              <a:rPr lang="en" i="0" dirty="0">
                <a:effectLst/>
                <a:latin typeface="system-ui"/>
              </a:rPr>
              <a:t>q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(Простые числа — это те, что делятся только на 1 и себя.)</a:t>
            </a:r>
            <a:br>
              <a:rPr lang="ru-RU" b="0" i="0" dirty="0">
                <a:effectLst/>
                <a:latin typeface="system-ui"/>
              </a:rPr>
            </a:br>
            <a:r>
              <a:rPr lang="ru-RU" b="0" i="0" dirty="0">
                <a:effectLst/>
                <a:latin typeface="system-ui"/>
              </a:rPr>
              <a:t>Возьмите самые маленькие</a:t>
            </a:r>
            <a:r>
              <a:rPr lang="en-US" b="0" i="0" dirty="0">
                <a:effectLst/>
                <a:latin typeface="system-ui"/>
              </a:rPr>
              <a:t>, </a:t>
            </a:r>
            <a:r>
              <a:rPr lang="ru-RU" b="0" i="0" dirty="0">
                <a:effectLst/>
                <a:latin typeface="system-ui"/>
              </a:rPr>
              <a:t>например:</a:t>
            </a:r>
          </a:p>
          <a:p>
            <a:pPr marL="0" indent="0" algn="l">
              <a:buNone/>
            </a:pPr>
            <a:r>
              <a:rPr lang="en" i="0" dirty="0">
                <a:effectLst/>
                <a:latin typeface="system-ui"/>
              </a:rPr>
              <a:t>p = 3</a:t>
            </a:r>
            <a:r>
              <a:rPr lang="ru-RU" i="0" dirty="0">
                <a:effectLst/>
                <a:latin typeface="system-ui"/>
              </a:rPr>
              <a:t> </a:t>
            </a:r>
            <a:endParaRPr lang="en" i="0" dirty="0">
              <a:effectLst/>
              <a:latin typeface="system-ui"/>
            </a:endParaRPr>
          </a:p>
          <a:p>
            <a:pPr marL="0" indent="0">
              <a:buNone/>
            </a:pPr>
            <a:r>
              <a:rPr lang="en" i="0" dirty="0">
                <a:effectLst/>
                <a:latin typeface="system-ui"/>
              </a:rPr>
              <a:t>q = 5 </a:t>
            </a:r>
            <a:endParaRPr lang="ru-RU" dirty="0">
              <a:latin typeface="system-ui"/>
            </a:endParaRPr>
          </a:p>
          <a:p>
            <a:pPr marL="0" indent="0" algn="l">
              <a:buNone/>
            </a:pPr>
            <a:r>
              <a:rPr lang="ru-RU" dirty="0">
                <a:latin typeface="system-ui"/>
              </a:rPr>
              <a:t>2</a:t>
            </a:r>
            <a:r>
              <a:rPr lang="en-US" dirty="0">
                <a:latin typeface="system-ui"/>
              </a:rPr>
              <a:t>. </a:t>
            </a:r>
            <a:r>
              <a:rPr lang="ru-RU" i="0" dirty="0">
                <a:effectLst/>
                <a:latin typeface="system-ui"/>
              </a:rPr>
              <a:t>Считаем </a:t>
            </a:r>
            <a:r>
              <a:rPr lang="en" i="0" dirty="0">
                <a:effectLst/>
                <a:latin typeface="system-ui"/>
              </a:rPr>
              <a:t>n = p × q</a:t>
            </a:r>
          </a:p>
          <a:p>
            <a:pPr marL="0" indent="0" algn="l">
              <a:buNone/>
            </a:pPr>
            <a:r>
              <a:rPr lang="en" b="0" i="0" dirty="0">
                <a:effectLst/>
                <a:latin typeface="KaTeX_Main"/>
              </a:rPr>
              <a:t>n=3×5=15</a:t>
            </a:r>
          </a:p>
          <a:p>
            <a:pPr marL="0" indent="0" algn="l">
              <a:buNone/>
            </a:pPr>
            <a:r>
              <a:rPr lang="en" dirty="0">
                <a:latin typeface="KaTeX_Main"/>
              </a:rPr>
              <a:t>3. </a:t>
            </a:r>
            <a:r>
              <a:rPr lang="ru-RU" dirty="0">
                <a:latin typeface="KaTeX_Main"/>
              </a:rPr>
              <a:t>Считаем </a:t>
            </a:r>
            <a:r>
              <a:rPr lang="el-GR" dirty="0">
                <a:latin typeface="KaTeX_Main"/>
              </a:rPr>
              <a:t>φ(</a:t>
            </a:r>
            <a:r>
              <a:rPr lang="en" dirty="0">
                <a:latin typeface="KaTeX_Main"/>
              </a:rPr>
              <a:t>n) = (p−1)(q−1)</a:t>
            </a:r>
          </a:p>
          <a:p>
            <a:pPr marL="0" indent="0" algn="l">
              <a:buNone/>
            </a:pPr>
            <a:r>
              <a:rPr lang="el-GR" b="0" i="0" dirty="0">
                <a:effectLst/>
                <a:latin typeface="KaTeX_Main"/>
              </a:rPr>
              <a:t>φ(</a:t>
            </a:r>
            <a:r>
              <a:rPr lang="en" b="0" i="0" dirty="0">
                <a:effectLst/>
                <a:latin typeface="KaTeX_Main"/>
              </a:rPr>
              <a:t>n)=(3−1)×(5−1)=2×4=8</a:t>
            </a:r>
          </a:p>
          <a:p>
            <a:pPr marL="0" indent="0" algn="l">
              <a:buNone/>
            </a:pPr>
            <a:r>
              <a:rPr lang="en" dirty="0">
                <a:latin typeface="KaTeX_Main"/>
              </a:rPr>
              <a:t>4. </a:t>
            </a:r>
            <a:r>
              <a:rPr lang="ru-RU" i="0" dirty="0">
                <a:effectLst/>
                <a:latin typeface="system-ui"/>
              </a:rPr>
              <a:t>Выбираем </a:t>
            </a:r>
            <a:r>
              <a:rPr lang="en-US" dirty="0" err="1">
                <a:latin typeface="system-ui"/>
              </a:rPr>
              <a:t>ч</a:t>
            </a:r>
            <a:r>
              <a:rPr lang="ru-RU" dirty="0" err="1">
                <a:latin typeface="system-ui"/>
              </a:rPr>
              <a:t>исло</a:t>
            </a:r>
            <a:r>
              <a:rPr lang="ru-RU" dirty="0">
                <a:latin typeface="system-ui"/>
              </a:rPr>
              <a:t> </a:t>
            </a:r>
            <a:r>
              <a:rPr lang="en" i="0" dirty="0">
                <a:effectLst/>
                <a:latin typeface="system-ui"/>
              </a:rPr>
              <a:t>e </a:t>
            </a:r>
            <a:r>
              <a:rPr lang="ru-RU" b="0" i="0" dirty="0">
                <a:effectLst/>
                <a:latin typeface="system-ui"/>
              </a:rPr>
              <a:t>такое</a:t>
            </a:r>
            <a:r>
              <a:rPr lang="en-US" b="0" i="0" dirty="0">
                <a:effectLst/>
                <a:latin typeface="system-ui"/>
              </a:rPr>
              <a:t>,</a:t>
            </a:r>
            <a:r>
              <a:rPr lang="ru-RU" b="0" i="0" dirty="0">
                <a:effectLst/>
                <a:latin typeface="system-ui"/>
              </a:rPr>
              <a:t> что</a:t>
            </a:r>
            <a:r>
              <a:rPr lang="en-US" b="0" i="0" dirty="0">
                <a:effectLst/>
                <a:latin typeface="system-ui"/>
              </a:rPr>
              <a:t> </a:t>
            </a:r>
          </a:p>
          <a:p>
            <a:pPr marL="0" indent="0" algn="l">
              <a:buNone/>
            </a:pPr>
            <a:r>
              <a:rPr lang="en-US" dirty="0">
                <a:latin typeface="system-ui"/>
              </a:rPr>
              <a:t> - </a:t>
            </a:r>
            <a:r>
              <a:rPr lang="ru-RU" b="0" i="0" dirty="0">
                <a:effectLst/>
                <a:latin typeface="KaTeX_Main"/>
              </a:rPr>
              <a:t>1&lt;</a:t>
            </a:r>
            <a:r>
              <a:rPr lang="en" b="0" i="0" dirty="0">
                <a:effectLst/>
                <a:latin typeface="KaTeX_Main"/>
              </a:rPr>
              <a:t>e&lt;</a:t>
            </a:r>
            <a:r>
              <a:rPr lang="el-GR" b="0" i="0" dirty="0">
                <a:effectLst/>
                <a:latin typeface="KaTeX_Main"/>
              </a:rPr>
              <a:t>φ(</a:t>
            </a:r>
            <a:r>
              <a:rPr lang="en" b="0" i="0" dirty="0">
                <a:effectLst/>
                <a:latin typeface="KaTeX_Main"/>
              </a:rPr>
              <a:t>n)</a:t>
            </a:r>
          </a:p>
          <a:p>
            <a:pPr marL="0" indent="0" algn="l">
              <a:buNone/>
            </a:pPr>
            <a:r>
              <a:rPr lang="en" b="1" i="0" dirty="0">
                <a:effectLst/>
                <a:latin typeface="system-ui"/>
              </a:rPr>
              <a:t>- </a:t>
            </a:r>
            <a:r>
              <a:rPr lang="en" i="0" dirty="0">
                <a:effectLst/>
                <a:latin typeface="system-ui"/>
              </a:rPr>
              <a:t>e </a:t>
            </a:r>
            <a:r>
              <a:rPr lang="ru-RU" i="0" dirty="0">
                <a:effectLst/>
                <a:latin typeface="system-ui"/>
              </a:rPr>
              <a:t>и </a:t>
            </a:r>
            <a:r>
              <a:rPr lang="el-GR" i="0" dirty="0">
                <a:effectLst/>
                <a:latin typeface="system-ui"/>
              </a:rPr>
              <a:t>φ(</a:t>
            </a:r>
            <a:r>
              <a:rPr lang="en" i="0" dirty="0">
                <a:effectLst/>
                <a:latin typeface="system-ui"/>
              </a:rPr>
              <a:t>n) </a:t>
            </a:r>
            <a:r>
              <a:rPr lang="ru-RU" i="0" dirty="0">
                <a:effectLst/>
                <a:latin typeface="system-ui"/>
              </a:rPr>
              <a:t>взаимно простые </a:t>
            </a:r>
            <a:r>
              <a:rPr lang="ru-RU" b="0" i="0" dirty="0">
                <a:effectLst/>
                <a:latin typeface="system-ui"/>
              </a:rPr>
              <a:t>(их НОД = 1)</a:t>
            </a:r>
            <a:endParaRPr lang="en-US" b="0" i="0" dirty="0"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Попробуем </a:t>
            </a:r>
            <a:r>
              <a:rPr lang="en" i="0" dirty="0">
                <a:effectLst/>
                <a:latin typeface="system-ui"/>
              </a:rPr>
              <a:t>e = 3 </a:t>
            </a:r>
            <a:r>
              <a:rPr lang="en" b="0" i="0" dirty="0">
                <a:effectLst/>
                <a:latin typeface="system-ui"/>
              </a:rPr>
              <a:t>→ </a:t>
            </a:r>
            <a:r>
              <a:rPr lang="ru-RU" b="0" i="0" dirty="0">
                <a:effectLst/>
                <a:latin typeface="system-ui"/>
              </a:rPr>
              <a:t>НОД(3, 8) = 1 → ✅ подходит!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(Можно было взять </a:t>
            </a:r>
            <a:r>
              <a:rPr lang="en" b="0" i="0" dirty="0">
                <a:effectLst/>
                <a:latin typeface="system-ui"/>
              </a:rPr>
              <a:t>e = 5 </a:t>
            </a:r>
            <a:r>
              <a:rPr lang="ru-RU" b="0" i="0" dirty="0">
                <a:effectLst/>
                <a:latin typeface="system-ui"/>
              </a:rPr>
              <a:t>или 7 — тоже подошли бы.)</a:t>
            </a:r>
            <a:endParaRPr lang="en-US" b="0" i="0" dirty="0">
              <a:effectLst/>
              <a:latin typeface="system-ui"/>
            </a:endParaRPr>
          </a:p>
          <a:p>
            <a:pPr marL="0" indent="0" algn="l">
              <a:buNone/>
            </a:pPr>
            <a:r>
              <a:rPr lang="en-US" b="0" i="0" dirty="0">
                <a:effectLst/>
                <a:latin typeface="system-ui"/>
              </a:rPr>
              <a:t>5. </a:t>
            </a:r>
            <a:r>
              <a:rPr lang="ru-RU" i="0" dirty="0">
                <a:effectLst/>
                <a:latin typeface="system-ui"/>
              </a:rPr>
              <a:t>Находим закрытый ключ </a:t>
            </a:r>
            <a:r>
              <a:rPr lang="en" i="0" dirty="0">
                <a:effectLst/>
                <a:latin typeface="system-ui"/>
              </a:rPr>
              <a:t>d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Нужно найти такое число </a:t>
            </a:r>
            <a:r>
              <a:rPr lang="en" i="0" dirty="0">
                <a:effectLst/>
                <a:latin typeface="system-ui"/>
              </a:rPr>
              <a:t>d</a:t>
            </a:r>
            <a:r>
              <a:rPr lang="en" b="0" i="0" dirty="0">
                <a:effectLst/>
                <a:latin typeface="system-ui"/>
              </a:rPr>
              <a:t>, </a:t>
            </a:r>
            <a:r>
              <a:rPr lang="ru-RU" b="0" i="0" dirty="0">
                <a:effectLst/>
                <a:latin typeface="system-ui"/>
              </a:rPr>
              <a:t>чтобы: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ru-RU" b="0" i="0" dirty="0">
                <a:effectLst/>
                <a:latin typeface="KaTeX_Main"/>
              </a:rPr>
              <a:t>(</a:t>
            </a:r>
            <a:r>
              <a:rPr lang="en" b="0" i="0" dirty="0" err="1">
                <a:effectLst/>
                <a:latin typeface="KaTeX_Main"/>
              </a:rPr>
              <a:t>e×d</a:t>
            </a:r>
            <a:r>
              <a:rPr lang="en" b="0" i="0" dirty="0">
                <a:effectLst/>
                <a:latin typeface="KaTeX_Main"/>
              </a:rPr>
              <a:t>) mod  </a:t>
            </a:r>
            <a:r>
              <a:rPr lang="el-GR" b="0" i="0" dirty="0">
                <a:effectLst/>
                <a:latin typeface="KaTeX_Main"/>
              </a:rPr>
              <a:t>φ(</a:t>
            </a:r>
            <a:r>
              <a:rPr lang="en" b="0" i="0" dirty="0">
                <a:effectLst/>
                <a:latin typeface="KaTeX_Main"/>
              </a:rPr>
              <a:t>n) =1</a:t>
            </a:r>
            <a:endParaRPr lang="en" b="0" i="0" dirty="0"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b="0" i="0" dirty="0">
                <a:effectLst/>
                <a:latin typeface="KaTeX_Main"/>
              </a:rPr>
              <a:t>(3×</a:t>
            </a:r>
            <a:r>
              <a:rPr lang="en" b="0" i="0" dirty="0">
                <a:effectLst/>
                <a:latin typeface="KaTeX_Main"/>
              </a:rPr>
              <a:t>d)mod  8=1:</a:t>
            </a:r>
            <a:endParaRPr lang="en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effectLst/>
                <a:latin typeface="system-ui"/>
              </a:rPr>
              <a:t>d = 1 → 3×1 = 3 → 3 mod 8 = 3 </a:t>
            </a:r>
            <a:r>
              <a:rPr lang="ru-RU" b="0" i="0" dirty="0">
                <a:effectLst/>
                <a:latin typeface="system-ui"/>
              </a:rPr>
              <a:t>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effectLst/>
                <a:latin typeface="system-ui"/>
              </a:rPr>
              <a:t>d = 2 → 6 mod 8 = 6 </a:t>
            </a:r>
            <a:r>
              <a:rPr lang="ru-RU" b="0" i="0" dirty="0">
                <a:effectLst/>
                <a:latin typeface="system-ui"/>
              </a:rPr>
              <a:t>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b="0" i="0" dirty="0">
                <a:effectLst/>
                <a:latin typeface="system-ui"/>
              </a:rPr>
              <a:t>d = 3 → 9 mod 8 = 1 </a:t>
            </a:r>
            <a:r>
              <a:rPr lang="ru-RU" b="0" i="0" dirty="0">
                <a:effectLst/>
                <a:latin typeface="system-ui"/>
              </a:rPr>
              <a:t>✅</a:t>
            </a:r>
          </a:p>
          <a:p>
            <a:pPr marL="0" indent="0" algn="l">
              <a:buNone/>
            </a:pPr>
            <a:endParaRPr lang="ru-RU" b="0" i="0" dirty="0">
              <a:effectLst/>
              <a:latin typeface="system-ui"/>
            </a:endParaRPr>
          </a:p>
          <a:p>
            <a:pPr marL="0" indent="0" algn="l">
              <a:buNone/>
            </a:pPr>
            <a:r>
              <a:rPr lang="en" dirty="0" err="1">
                <a:latin typeface="system-ui"/>
              </a:rPr>
              <a:t>К</a:t>
            </a:r>
            <a:r>
              <a:rPr lang="ru-RU" dirty="0" err="1">
                <a:latin typeface="system-ui"/>
              </a:rPr>
              <a:t>лючи</a:t>
            </a:r>
            <a:r>
              <a:rPr lang="ru-RU" dirty="0">
                <a:latin typeface="system-ui"/>
              </a:rPr>
              <a:t> –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system-ui"/>
              </a:rPr>
              <a:t>Открытый ключ</a:t>
            </a:r>
            <a:r>
              <a:rPr lang="ru-RU" b="0" i="0" dirty="0">
                <a:effectLst/>
                <a:latin typeface="system-ui"/>
              </a:rPr>
              <a:t>: (</a:t>
            </a:r>
            <a:r>
              <a:rPr lang="en" b="0" i="0" dirty="0">
                <a:effectLst/>
                <a:latin typeface="system-ui"/>
              </a:rPr>
              <a:t>n, e) = </a:t>
            </a:r>
            <a:r>
              <a:rPr lang="en" b="1" i="0" dirty="0">
                <a:effectLst/>
                <a:latin typeface="system-ui"/>
              </a:rPr>
              <a:t>(15, 3)</a:t>
            </a:r>
            <a:r>
              <a:rPr lang="en" b="0" i="0" dirty="0">
                <a:effectLst/>
                <a:latin typeface="system-ui"/>
              </a:rPr>
              <a:t> → </a:t>
            </a:r>
            <a:r>
              <a:rPr lang="ru-RU" b="0" i="0" dirty="0">
                <a:effectLst/>
                <a:latin typeface="system-ui"/>
              </a:rPr>
              <a:t>им можно </a:t>
            </a:r>
            <a:r>
              <a:rPr lang="ru-RU" b="1" i="0" dirty="0">
                <a:effectLst/>
                <a:latin typeface="system-ui"/>
              </a:rPr>
              <a:t>зашифровать</a:t>
            </a:r>
            <a:endParaRPr lang="ru-RU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system-ui"/>
              </a:rPr>
              <a:t>Закрытый ключ</a:t>
            </a:r>
            <a:r>
              <a:rPr lang="ru-RU" b="0" i="0" dirty="0">
                <a:effectLst/>
                <a:latin typeface="system-ui"/>
              </a:rPr>
              <a:t>: (</a:t>
            </a:r>
            <a:r>
              <a:rPr lang="en" b="0" i="0" dirty="0">
                <a:effectLst/>
                <a:latin typeface="system-ui"/>
              </a:rPr>
              <a:t>n, d) = </a:t>
            </a:r>
            <a:r>
              <a:rPr lang="en" b="1" i="0" dirty="0">
                <a:effectLst/>
                <a:latin typeface="system-ui"/>
              </a:rPr>
              <a:t>(15, 3)</a:t>
            </a:r>
            <a:r>
              <a:rPr lang="en" b="0" i="0" dirty="0">
                <a:effectLst/>
                <a:latin typeface="system-ui"/>
              </a:rPr>
              <a:t> → </a:t>
            </a:r>
            <a:r>
              <a:rPr lang="ru-RU" b="0" i="0" dirty="0">
                <a:effectLst/>
                <a:latin typeface="system-ui"/>
              </a:rPr>
              <a:t>им можно </a:t>
            </a:r>
            <a:r>
              <a:rPr lang="ru-RU" b="1" i="0" dirty="0">
                <a:effectLst/>
                <a:latin typeface="system-ui"/>
              </a:rPr>
              <a:t>расшифровать</a:t>
            </a:r>
            <a:endParaRPr lang="ru-RU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4818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6FA1313-C4AC-CCFA-10DB-9753AB23D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ru-RU" i="0" dirty="0">
                <a:effectLst/>
                <a:latin typeface="system-ui"/>
              </a:rPr>
              <a:t>Зашифруем сообщение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Пусть </a:t>
            </a:r>
            <a:r>
              <a:rPr lang="ru-RU" i="0" dirty="0">
                <a:effectLst/>
                <a:latin typeface="system-ui"/>
              </a:rPr>
              <a:t>сообщение </a:t>
            </a:r>
            <a:r>
              <a:rPr lang="en" i="0" dirty="0">
                <a:effectLst/>
                <a:latin typeface="system-ui"/>
              </a:rPr>
              <a:t>m = 2</a:t>
            </a:r>
            <a:r>
              <a:rPr lang="ru-RU" dirty="0">
                <a:latin typeface="system-ui"/>
              </a:rPr>
              <a:t> (</a:t>
            </a:r>
            <a:r>
              <a:rPr lang="ru-RU" b="0" i="0" dirty="0">
                <a:effectLst/>
                <a:latin typeface="system-ui"/>
              </a:rPr>
              <a:t>«2» = «анализ готов»)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- Условие: </a:t>
            </a:r>
            <a:r>
              <a:rPr lang="en" b="1" i="0" dirty="0">
                <a:effectLst/>
                <a:latin typeface="system-ui"/>
              </a:rPr>
              <a:t>m </a:t>
            </a:r>
            <a:r>
              <a:rPr lang="ru-RU" b="1" i="0" dirty="0">
                <a:effectLst/>
                <a:latin typeface="system-ui"/>
              </a:rPr>
              <a:t>должно быть меньше </a:t>
            </a:r>
            <a:r>
              <a:rPr lang="en" b="1" i="0" dirty="0">
                <a:effectLst/>
                <a:latin typeface="system-ui"/>
              </a:rPr>
              <a:t>n</a:t>
            </a:r>
            <a:r>
              <a:rPr lang="en" b="0" i="0" dirty="0">
                <a:effectLst/>
                <a:latin typeface="system-ui"/>
              </a:rPr>
              <a:t> → 2 &lt; 15 → </a:t>
            </a:r>
            <a:r>
              <a:rPr lang="ru-RU" b="0" i="0" dirty="0">
                <a:effectLst/>
                <a:latin typeface="system-ui"/>
              </a:rPr>
              <a:t>✅</a:t>
            </a:r>
          </a:p>
          <a:p>
            <a:pPr marL="514350" indent="-514350" algn="l">
              <a:buFont typeface="+mj-lt"/>
              <a:buAutoNum type="alphaLcParenR"/>
            </a:pPr>
            <a:r>
              <a:rPr lang="ru-RU" b="0" i="0" dirty="0">
                <a:effectLst/>
                <a:latin typeface="system-ui"/>
              </a:rPr>
              <a:t>Формула шифрования:</a:t>
            </a:r>
          </a:p>
          <a:p>
            <a:pPr marL="514350" indent="-514350" algn="l">
              <a:buFont typeface="+mj-lt"/>
              <a:buAutoNum type="alphaLcParenR"/>
            </a:pPr>
            <a:r>
              <a:rPr lang="en" b="0" i="0" dirty="0">
                <a:effectLst/>
                <a:latin typeface="KaTeX_Main"/>
              </a:rPr>
              <a:t>C=m</a:t>
            </a:r>
            <a:r>
              <a:rPr lang="en" b="0" i="0" baseline="30000" dirty="0">
                <a:effectLst/>
                <a:latin typeface="KaTeX_Main"/>
              </a:rPr>
              <a:t>e</a:t>
            </a:r>
            <a:r>
              <a:rPr lang="ru-RU" b="0" i="0" baseline="3000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n=2</a:t>
            </a:r>
            <a:r>
              <a:rPr lang="en" b="0" i="0" baseline="30000" dirty="0">
                <a:effectLst/>
                <a:latin typeface="KaTeX_Main"/>
              </a:rPr>
              <a:t>3</a:t>
            </a:r>
            <a:r>
              <a:rPr lang="ru-RU" b="0" i="0" baseline="3000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15=8</a:t>
            </a:r>
            <a:r>
              <a:rPr lang="ru-RU" b="0" i="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15=8</a:t>
            </a:r>
            <a:endParaRPr lang="en" b="0" i="0" dirty="0">
              <a:effectLst/>
              <a:latin typeface="system-ui"/>
            </a:endParaRPr>
          </a:p>
          <a:p>
            <a:pPr marL="514350" indent="-514350" algn="l">
              <a:buFont typeface="+mj-lt"/>
              <a:buAutoNum type="alphaLcParenR"/>
            </a:pPr>
            <a:r>
              <a:rPr lang="en" b="0" i="0" dirty="0">
                <a:effectLst/>
                <a:latin typeface="system-ui"/>
              </a:rPr>
              <a:t>→ </a:t>
            </a:r>
            <a:r>
              <a:rPr lang="ru-RU" b="1" i="0" dirty="0" err="1">
                <a:effectLst/>
                <a:latin typeface="system-ui"/>
              </a:rPr>
              <a:t>Шифротекст</a:t>
            </a:r>
            <a:r>
              <a:rPr lang="ru-RU" b="1" i="0" dirty="0">
                <a:effectLst/>
                <a:latin typeface="system-ui"/>
              </a:rPr>
              <a:t> </a:t>
            </a:r>
            <a:r>
              <a:rPr lang="en" b="1" i="0" dirty="0">
                <a:effectLst/>
                <a:latin typeface="system-ui"/>
              </a:rPr>
              <a:t>C = 8</a:t>
            </a:r>
            <a:endParaRPr lang="en" b="0" i="0" dirty="0">
              <a:effectLst/>
              <a:latin typeface="system-ui"/>
            </a:endParaRPr>
          </a:p>
          <a:p>
            <a:pPr algn="l"/>
            <a:r>
              <a:rPr lang="ru-RU" i="0" dirty="0">
                <a:effectLst/>
                <a:latin typeface="system-ui"/>
              </a:rPr>
              <a:t>Расшифруем сообщение</a:t>
            </a:r>
          </a:p>
          <a:p>
            <a:pPr algn="l"/>
            <a:r>
              <a:rPr lang="en" b="0" i="0" dirty="0">
                <a:effectLst/>
                <a:latin typeface="KaTeX_Main"/>
              </a:rPr>
              <a:t>M=C</a:t>
            </a:r>
            <a:r>
              <a:rPr lang="en" b="0" i="0" baseline="30000" dirty="0">
                <a:effectLst/>
                <a:latin typeface="KaTeX_Main"/>
              </a:rPr>
              <a:t>d</a:t>
            </a:r>
            <a:r>
              <a:rPr lang="ru-RU" b="0" i="0" baseline="3000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n=8</a:t>
            </a:r>
            <a:r>
              <a:rPr lang="en" b="0" i="0" baseline="30000" dirty="0">
                <a:effectLst/>
                <a:latin typeface="KaTeX_Main"/>
              </a:rPr>
              <a:t>3</a:t>
            </a:r>
            <a:r>
              <a:rPr lang="ru-RU" b="0" i="0" baseline="3000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15=512</a:t>
            </a:r>
            <a:r>
              <a:rPr lang="ru-RU" b="0" i="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  15=512</a:t>
            </a:r>
            <a:r>
              <a:rPr lang="ru-RU" b="0" i="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mod</a:t>
            </a:r>
            <a:r>
              <a:rPr lang="ru-RU" b="0" i="0" dirty="0">
                <a:effectLst/>
                <a:latin typeface="KaTeX_Main"/>
              </a:rPr>
              <a:t> </a:t>
            </a:r>
            <a:r>
              <a:rPr lang="en" b="0" i="0" dirty="0">
                <a:effectLst/>
                <a:latin typeface="KaTeX_Main"/>
              </a:rPr>
              <a:t>15</a:t>
            </a:r>
            <a:r>
              <a:rPr lang="ru-RU" b="0" i="0" dirty="0">
                <a:effectLst/>
                <a:latin typeface="KaTeX_Main"/>
              </a:rPr>
              <a:t> = 2</a:t>
            </a:r>
            <a:endParaRPr lang="en" b="0" i="0" dirty="0">
              <a:effectLst/>
              <a:latin typeface="system-ui"/>
            </a:endParaRPr>
          </a:p>
          <a:p>
            <a:pPr marL="0" indent="0" algn="l">
              <a:buNone/>
            </a:pPr>
            <a:r>
              <a:rPr lang="ru-RU" dirty="0">
                <a:latin typeface="system-ui"/>
              </a:rPr>
              <a:t>И</a:t>
            </a:r>
            <a:r>
              <a:rPr lang="ru-RU" b="0" i="0" dirty="0">
                <a:effectLst/>
                <a:latin typeface="system-ui"/>
              </a:rPr>
              <a:t>сходное сообщение восстановлено! ✅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system-ui"/>
              </a:rPr>
              <a:t>В реальности:</a:t>
            </a:r>
          </a:p>
          <a:p>
            <a:pPr>
              <a:buFont typeface="Wingdings" pitchFamily="2" charset="2"/>
              <a:buChar char="ü"/>
            </a:pPr>
            <a:r>
              <a:rPr lang="en" b="0" i="0" dirty="0">
                <a:effectLst/>
                <a:latin typeface="system-ui"/>
              </a:rPr>
              <a:t>n — </a:t>
            </a:r>
            <a:r>
              <a:rPr lang="ru-RU" b="0" i="0" dirty="0">
                <a:effectLst/>
                <a:latin typeface="system-ui"/>
              </a:rPr>
              <a:t>число из </a:t>
            </a:r>
            <a:r>
              <a:rPr lang="en-US" b="0" dirty="0">
                <a:latin typeface="system-ui"/>
              </a:rPr>
              <a:t>600</a:t>
            </a:r>
            <a:r>
              <a:rPr lang="ru-RU" i="0" dirty="0">
                <a:effectLst/>
                <a:latin typeface="system-ui"/>
              </a:rPr>
              <a:t>+ десятичных цифр</a:t>
            </a:r>
            <a:endParaRPr lang="ru-RU" b="0" i="0" dirty="0">
              <a:effectLst/>
              <a:latin typeface="system-ui"/>
            </a:endParaRPr>
          </a:p>
          <a:p>
            <a:pPr marL="0" indent="0" algn="l">
              <a:buNone/>
            </a:pPr>
            <a:endParaRPr lang="ru-RU" b="0" i="0" dirty="0">
              <a:effectLst/>
              <a:latin typeface="system-ui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25891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358</Words>
  <Application>Microsoft Macintosh PowerPoint</Application>
  <PresentationFormat>Широкоэкранный</PresentationFormat>
  <Paragraphs>40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KaTeX_Main</vt:lpstr>
      <vt:lpstr>system-ui</vt:lpstr>
      <vt:lpstr>Wingdings</vt:lpstr>
      <vt:lpstr>Тема Office</vt:lpstr>
      <vt:lpstr>Шифрование. Открытый и закрытый ключи</vt:lpstr>
      <vt:lpstr>Цель работы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Шифрование. Открытый и закрытый ключи</dc:title>
  <dc:creator>Елена Демидова</dc:creator>
  <cp:lastModifiedBy>Елена Демидова</cp:lastModifiedBy>
  <cp:revision>11</cp:revision>
  <dcterms:created xsi:type="dcterms:W3CDTF">2026-01-19T20:59:21Z</dcterms:created>
  <dcterms:modified xsi:type="dcterms:W3CDTF">2026-01-19T21:36:55Z</dcterms:modified>
</cp:coreProperties>
</file>